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4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交通标志检测与识别系统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C4E8"/>
                </a:solidFill>
                <a:latin typeface="微软雅黑" panose="020B0503020204020204" charset="-122"/>
              </a:defRPr>
            </a:pPr>
            <a:r>
              <a:t>Traffic Sign Detection and Recognition System</a:t>
            </a:r>
            <a:br/>
            <a:r>
              <a:t>基于 YOLOv8 与 GTSDB 数据集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474720"/>
            <a:ext cx="3047695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计算机视觉课程设计 · 2026 年 7 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486400"/>
            <a:ext cx="9144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AABB"/>
                </a:solidFill>
                <a:latin typeface="微软雅黑" panose="020B0503020204020204" charset="-122"/>
              </a:defRPr>
            </a:pPr>
            <a:r>
              <a:t>小组成员：</a:t>
            </a:r>
            <a:r>
              <a:rPr lang="zh-CN"/>
              <a:t>王虹力</a:t>
            </a:r>
            <a:r>
              <a:t>  |  </a:t>
            </a:r>
            <a:r>
              <a:rPr lang="zh-CN"/>
              <a:t>许婧妍</a:t>
            </a:r>
            <a:r>
              <a:t>  |  </a:t>
            </a:r>
            <a:r>
              <a:rPr lang="zh-CN"/>
              <a:t>唐敏慧</a:t>
            </a:r>
            <a:r>
              <a:t>  |  </a:t>
            </a:r>
            <a:r>
              <a:rPr lang="zh-CN"/>
              <a:t>周轩瑶</a:t>
            </a:r>
            <a:r>
              <a:t>  |  </a:t>
            </a:r>
            <a:r>
              <a:rPr lang="zh-CN"/>
              <a:t>徐文颖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A5C"/>
                </a:solidFill>
                <a:latin typeface="微软雅黑" panose="020B0503020204020204" charset="-122"/>
              </a:defRPr>
            </a:pPr>
            <a:r>
              <a:t>目  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188720"/>
            <a:ext cx="1828800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B3A5C"/>
                </a:solidFill>
                <a:latin typeface="微软雅黑" panose="020B0503020204020204" charset="-122"/>
              </a:defRPr>
            </a:pPr>
            <a:r>
              <a:t>01   项目背景与目标</a:t>
            </a:r>
          </a:p>
          <a:p>
            <a:pPr>
              <a:spcAft>
                <a:spcPts val="1400"/>
              </a:spcAft>
              <a:defRPr sz="2400">
                <a:solidFill>
                  <a:srgbClr val="1B3A5C"/>
                </a:solidFill>
                <a:latin typeface="微软雅黑" panose="020B0503020204020204" charset="-122"/>
              </a:defRPr>
            </a:pPr>
            <a:r>
              <a:t>02   数据集介绍</a:t>
            </a:r>
          </a:p>
          <a:p>
            <a:pPr>
              <a:spcAft>
                <a:spcPts val="1400"/>
              </a:spcAft>
              <a:defRPr sz="2400">
                <a:solidFill>
                  <a:srgbClr val="1B3A5C"/>
                </a:solidFill>
                <a:latin typeface="微软雅黑" panose="020B0503020204020204" charset="-122"/>
              </a:defRPr>
            </a:pPr>
            <a:r>
              <a:t>03   模型与方法</a:t>
            </a:r>
          </a:p>
          <a:p>
            <a:pPr>
              <a:spcAft>
                <a:spcPts val="1400"/>
              </a:spcAft>
              <a:defRPr sz="2400">
                <a:solidFill>
                  <a:srgbClr val="1B3A5C"/>
                </a:solidFill>
                <a:latin typeface="微软雅黑" panose="020B0503020204020204" charset="-122"/>
              </a:defRPr>
            </a:pPr>
            <a:r>
              <a:t>04   训练策略</a:t>
            </a:r>
          </a:p>
          <a:p>
            <a:pPr>
              <a:spcAft>
                <a:spcPts val="1400"/>
              </a:spcAft>
              <a:defRPr sz="2400">
                <a:solidFill>
                  <a:srgbClr val="1B3A5C"/>
                </a:solidFill>
                <a:latin typeface="微软雅黑" panose="020B0503020204020204" charset="-122"/>
              </a:defRPr>
            </a:pPr>
            <a:r>
              <a:t>05   实验结果</a:t>
            </a:r>
          </a:p>
          <a:p>
            <a:pPr>
              <a:spcAft>
                <a:spcPts val="1400"/>
              </a:spcAft>
              <a:defRPr sz="2400">
                <a:solidFill>
                  <a:srgbClr val="1B3A5C"/>
                </a:solidFill>
                <a:latin typeface="微软雅黑" panose="020B0503020204020204" charset="-122"/>
              </a:defRPr>
            </a:pPr>
            <a:r>
              <a:t>06   场景分析</a:t>
            </a:r>
          </a:p>
          <a:p>
            <a:pPr>
              <a:spcAft>
                <a:spcPts val="1400"/>
              </a:spcAft>
              <a:defRPr sz="2400">
                <a:solidFill>
                  <a:srgbClr val="1B3A5C"/>
                </a:solidFill>
                <a:latin typeface="微软雅黑" panose="020B0503020204020204" charset="-122"/>
              </a:defRPr>
            </a:pPr>
            <a:r>
              <a:t>07   误检与漏检分析</a:t>
            </a:r>
          </a:p>
          <a:p>
            <a:pPr>
              <a:spcAft>
                <a:spcPts val="1400"/>
              </a:spcAft>
              <a:defRPr sz="2400">
                <a:solidFill>
                  <a:srgbClr val="1B3A5C"/>
                </a:solidFill>
                <a:latin typeface="微软雅黑" panose="020B0503020204020204" charset="-122"/>
              </a:defRPr>
            </a:pPr>
            <a:r>
              <a:t>08   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微软雅黑" panose="020B0503020204020204" charset="-122"/>
              </a:defRPr>
            </a:pPr>
            <a:r>
              <a:t>项目背景与目标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828800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463040"/>
            <a:ext cx="54864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t>项目背景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交通标志检测是智能驾驶与辅助驾驶系统的核心技术之一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GTSDB 是交通标志检测领域的经典基准数据集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目标检测技术从传统方法演进到深度学习时代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YOLOv8 作为当前最先进的目标检测框架之一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463040"/>
            <a:ext cx="54864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t>项目目标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实现 GTSDB 数据集的预处理与类别映射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构建基于 YOLOv8s 的交通标志检测模型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对比基准策略与改进策略的性能差异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实现多维度评估与可视化分析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mAP@0.5 目标值 ≥ 75%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120640"/>
            <a:ext cx="10362895" cy="10972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53035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t>检测类别（5类）</a:t>
            </a:r>
          </a:p>
          <a:p>
            <a:pPr>
              <a:spcAft>
                <a:spcPts val="600"/>
              </a:spcAft>
              <a:defRPr sz="1600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t>限速标志  |  禁止通行  |  方向指示  |  人行横道  |  停车让行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微软雅黑" panose="020B0503020204020204" charset="-122"/>
              </a:defRPr>
            </a:pPr>
            <a:r>
              <a:t>团队分工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828800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554480"/>
          <a:ext cx="100584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59436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成员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组别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主要职责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成员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技术研发组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YOLOv8 模型封装、训练管线架构、改进策略设计</a:t>
                      </a:r>
                    </a:p>
                  </a:txBody>
                  <a:tcPr anchor="ctr"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成员 B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技术研发组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GTSDB 数据预处理、格式转换、场景分类、数据增强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成员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文档评估组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 维度评估引擎、混淆矩阵/曲线/误检分析可视化</a:t>
                      </a:r>
                    </a:p>
                  </a:txBody>
                  <a:tcPr anchor="ctr"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成员 D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文档评估组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项目文档、类别映射说明、数据校验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成员 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文档评估组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实验报告、结果归档、代码审核与版本管理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微软雅黑" panose="020B0503020204020204" charset="-122"/>
              </a:defRPr>
            </a:pPr>
            <a:r>
              <a:t>数据集介绍 — GTSDB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828800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463040"/>
            <a:ext cx="54864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t>数据集概况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全称：German Traffic Sign Detection Benchmark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来源：Kaggle 公开数据集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原始类别：43 类交通标志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项目映射：43 类 → 5 类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划分比例：训练集 80% / 验证集 20%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随机种子：42（确保实验可复现）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463040"/>
            <a:ext cx="54864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t>类别映射（43 → 5）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0" y="2103120"/>
          <a:ext cx="5029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201168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类别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来源 GTSDB 类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限速标志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0,1,2,3,4,5,7,8</a:t>
                      </a:r>
                    </a:p>
                  </a:txBody>
                  <a:tcPr anchor="ctr"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禁止通行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方向指示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33,34,35,36,37,38,39</a:t>
                      </a:r>
                    </a:p>
                  </a:txBody>
                  <a:tcPr anchor="ctr"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人行横道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停车让行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13,14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微软雅黑" panose="020B0503020204020204" charset="-122"/>
              </a:defRPr>
            </a:pPr>
            <a:r>
              <a:t>模型与方法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828800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463040"/>
            <a:ext cx="54864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t>YOLOv8s 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型号：YOLOv8s (Small)，兼顾速度与精度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预训练权重：yolov8s.pt（COCO 预训练）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输入尺寸：640 × 640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支持功能：训练 / 评估 / 预测 / ONNX 导出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模型封装 (TrafficSignDetector)：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- train() — 训练入口，支持超参自定义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- evaluate() — mAP / Precision / Recall 评估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- predict() — 单图推理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- export_onnx() — 跨平台部署导出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463040"/>
            <a:ext cx="54864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t>数据处理流程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1. 读取 GTSDB 标注文件 (gt.txt)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2. 解析角坐标 (x1,y1,x2,y2)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3. 43 类 → 5 类语义映射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4. 转换为 YOLO 格式 (cx,cy,w,h) 归一化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5. 按 8:2 随机划分训练/验证集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6. 场景分类：亮度 + 拉普拉斯模糊度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微软雅黑" panose="020B0503020204020204" charset="-122"/>
              </a:defRPr>
            </a:pPr>
            <a:r>
              <a:t>训练策略对比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828800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515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配置项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基准模型 (Baseline)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改进模型 (Improved)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基础配置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YOLOv8s, 100 epochs, batch=16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YOLOv8s, 100 epochs, batch=16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颜色增强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默认 (HSV 轻微抖动)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强增强 (HSV 大幅抖动)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几何增强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基本翻转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旋转15° / 缩放60% / 剪切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Mosaic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默认开启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开启，最后15轮关闭精调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MixUp / Copy-Paste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关闭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MixUp=0.2, Copy-Paste=0.1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学习率调度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固定步长衰减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余弦退火 (Cosine Annealing)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标签平滑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关闭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开启 (label_smoothing=0.05)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预热轮数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默认 (3轮)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5轮预热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早停耐心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15轮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30轮（更长训练保障）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微软雅黑" panose="020B0503020204020204" charset="-122"/>
              </a:defRPr>
            </a:pPr>
            <a:r>
              <a:t>实验结果 — 性能指标对比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828800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55448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2560320"/>
                <a:gridCol w="265176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基准 (Baseline)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 (Improved)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提升幅度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mAP@0.5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86.85%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90.15%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+3.30% ↑</a:t>
                      </a:r>
                    </a:p>
                  </a:txBody>
                  <a:tcPr anchor="ctr"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mAP@0.5:0.95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72.11%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72.28%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+0.17% ↑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93.70%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92.45%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-1.25% ↓</a:t>
                      </a:r>
                    </a:p>
                  </a:txBody>
                  <a:tcPr anchor="ctr"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79.01%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88.95%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+9.94% ↑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85.73%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90.67%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+4.94% ↑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14400" y="5120640"/>
            <a:ext cx="10058400" cy="10972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035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t>📊 关键结论</a:t>
            </a:r>
          </a:p>
          <a:p>
            <a:pPr>
              <a:spcAft>
                <a:spcPts val="200"/>
              </a:spcAft>
              <a:defRPr sz="1500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t>改进策略在保持高精确率（92.45%）的同时，召回率大幅提升 +9.94%，</a:t>
            </a:r>
          </a:p>
          <a:p>
            <a:pPr>
              <a:spcAft>
                <a:spcPts val="200"/>
              </a:spcAft>
              <a:defRPr sz="1500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t>综合 F1-score 提升 +4.94%，mAP@0.5 达到 90.15%，显著超越目标值 75%。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微软雅黑" panose="020B0503020204020204" charset="-122"/>
              </a:defRPr>
            </a:pPr>
            <a:r>
              <a:t>场景适应性分析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828800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463040"/>
            <a:ext cx="54864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t>按图像亮度与模糊度自动分类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评估方法：将验证集图片按场景条件自动分组，分别计算 mAP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明亮 (Bright)：高光照条件，亮度均值 &gt; 180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正常 (Normal)：常规光照条件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低光 (Dark)：夜间或弱光环境，亮度均值 &lt; 80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模糊 (Blurry)：运动模糊或失焦，拉普拉斯方差 &lt; 100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0" y="155448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73736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场景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图片数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mAP@0.5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明亮 (Bright)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正常 (Normal)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低光 (Dark)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模糊 (Blurry)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914400" y="5120640"/>
            <a:ext cx="10058400" cy="7315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303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t>📌 详细数据由 eval.py 的场景分析模块生成，结果见 results/comparison_table.png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微软雅黑" panose="020B0503020204020204" charset="-122"/>
              </a:defRPr>
            </a:pPr>
            <a:r>
              <a:t>误检与漏检分析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828800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463040"/>
            <a:ext cx="54864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t>基于 IoU 匹配的误检/漏检统计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分析方法：计算预测框与真实框的 IoU，阈值 0.5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TP (True Positive) ：正确检测（IoU ≥ 0.5）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FP (False Positive) ：误检 — 检测到不存在的目标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FN (False Negative) ：漏检 — 未检测到存在的目标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统计指标：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- Precision = TP / (TP + FP)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- Recall = TP / (TP + FN)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- F1-score = 2 × P × R / (P + R)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463040"/>
            <a:ext cx="54864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t>输出结果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可视化样例：TP/FP/FN 案例各 1~2 张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统计面板显示：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  - TP / FP / FN 计数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  - Precision / Recall / F1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输出文件：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  results/false_detection_analysis.png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微软雅黑" panose="020B0503020204020204" charset="-122"/>
              </a:defRPr>
            </a:pPr>
            <a:r>
              <a:t>评估模块总览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828800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286000"/>
                <a:gridCol w="3200400"/>
                <a:gridCol w="448056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评估模块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输出文件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模型性能对比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comparison.json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Baseline vs Improved 指标对比</a:t>
                      </a:r>
                    </a:p>
                  </a:txBody>
                  <a:tcPr anchor="ctr"/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损失曲线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loss_curve.png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训练过程 Loss / Precision / Recall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混淆矩阵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confusion_matrix.png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 类别预测 vs 真实热力图</a:t>
                      </a:r>
                    </a:p>
                  </a:txBody>
                  <a:tcPr anchor="ctr"/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场景分析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comparison_table.png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明亮/正常/低光/模糊分组对比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误检分析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false_detection_analysis.png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TP/FP/FN 案例可视化</a:t>
                      </a:r>
                    </a:p>
                  </a:txBody>
                  <a:tcPr anchor="ctr"/>
                </a:tc>
              </a:tr>
              <a:tr h="5878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评估报告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eval_report.txt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全部数值指标汇总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微软雅黑" panose="020B0503020204020204" charset="-122"/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828800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463040"/>
            <a:ext cx="54864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t>项目总结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✅ 完成 GTSDB 数据集预处理与格式转换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✅ 实现 YOLOv8s 基准模型训练，mAP@0.5 = 86.85%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✅ 改进策略进一步提升，mAP@0.5 = 90.15%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✅ 召回率大幅提升 +9.94%，F1-score 达 90.67%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✅ 实现 6 维度多场景评估与可视化分析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✅ 支持 ONNX 导出，具备跨平台部署能力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463040"/>
            <a:ext cx="54864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8A"/>
                </a:solidFill>
                <a:latin typeface="微软雅黑" panose="020B0503020204020204" charset="-122"/>
              </a:defRPr>
            </a:pPr>
            <a:r>
              <a:t>未来展望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🔹 探索 YOLOv8m / YOLOv8l 更大模型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🔹 引入更多数据增强策略提升鲁棒性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🔹 添加视频流实时检测支持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🔹 部署至移动端或嵌入式设备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🔹 扩展至更多交通标志类别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406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感谢聆听  ·  敬请指导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3130</Words>
  <Application>WPS 演示</Application>
  <PresentationFormat>On-screen Show (4:3)</PresentationFormat>
  <Paragraphs>413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柒凉</cp:lastModifiedBy>
  <cp:revision>3</cp:revision>
  <dcterms:created xsi:type="dcterms:W3CDTF">2013-01-27T09:14:00Z</dcterms:created>
  <dcterms:modified xsi:type="dcterms:W3CDTF">2026-07-09T07:05:14Z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75C8A0BAD0A845F6BE9D878697BBA9A3_13</vt:lpwstr>
  </property>
</Properties>
</file>